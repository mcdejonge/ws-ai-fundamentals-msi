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7" r:id="rId5"/>
    <p:sldId id="280" r:id="rId6"/>
    <p:sldId id="287" r:id="rId7"/>
    <p:sldId id="281" r:id="rId8"/>
    <p:sldId id="283" r:id="rId9"/>
    <p:sldId id="285" r:id="rId10"/>
    <p:sldId id="284" r:id="rId11"/>
    <p:sldId id="286" r:id="rId12"/>
    <p:sldId id="288" r:id="rId13"/>
    <p:sldId id="290" r:id="rId14"/>
    <p:sldId id="291" r:id="rId15"/>
    <p:sldId id="292" r:id="rId16"/>
    <p:sldId id="297" r:id="rId17"/>
    <p:sldId id="293" r:id="rId18"/>
    <p:sldId id="294" r:id="rId19"/>
    <p:sldId id="295" r:id="rId20"/>
    <p:sldId id="296" r:id="rId21"/>
    <p:sldId id="298" r:id="rId22"/>
    <p:sldId id="300" r:id="rId23"/>
    <p:sldId id="29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3">
          <p15:clr>
            <a:srgbClr val="A4A3A4"/>
          </p15:clr>
        </p15:guide>
        <p15:guide id="2" orient="horz" pos="1503">
          <p15:clr>
            <a:srgbClr val="A4A3A4"/>
          </p15:clr>
        </p15:guide>
        <p15:guide id="3" orient="horz" pos="3863">
          <p15:clr>
            <a:srgbClr val="A4A3A4"/>
          </p15:clr>
        </p15:guide>
        <p15:guide id="4" orient="horz" pos="1009">
          <p15:clr>
            <a:srgbClr val="A4A3A4"/>
          </p15:clr>
        </p15:guide>
        <p15:guide id="5" pos="5599">
          <p15:clr>
            <a:srgbClr val="A4A3A4"/>
          </p15:clr>
        </p15:guide>
        <p15:guide id="6" pos="1818">
          <p15:clr>
            <a:srgbClr val="A4A3A4"/>
          </p15:clr>
        </p15:guide>
        <p15:guide id="7" pos="153">
          <p15:clr>
            <a:srgbClr val="A4A3A4"/>
          </p15:clr>
        </p15:guide>
        <p15:guide id="8" pos="1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657"/>
    <a:srgbClr val="A9976A"/>
    <a:srgbClr val="837752"/>
    <a:srgbClr val="AC9660"/>
    <a:srgbClr val="FFE411"/>
    <a:srgbClr val="FFFFFF"/>
    <a:srgbClr val="FED91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50" autoAdjust="0"/>
    <p:restoredTop sz="94668" autoAdjust="0"/>
  </p:normalViewPr>
  <p:slideViewPr>
    <p:cSldViewPr snapToGrid="0" snapToObjects="1">
      <p:cViewPr varScale="1">
        <p:scale>
          <a:sx n="119" d="100"/>
          <a:sy n="119" d="100"/>
        </p:scale>
        <p:origin x="1352" y="176"/>
      </p:cViewPr>
      <p:guideLst>
        <p:guide orient="horz" pos="4003"/>
        <p:guide orient="horz" pos="1503"/>
        <p:guide orient="horz" pos="3863"/>
        <p:guide orient="horz" pos="1009"/>
        <p:guide pos="5599"/>
        <p:guide pos="1818"/>
        <p:guide pos="153"/>
        <p:guide pos="1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7098F-87C7-3046-B8E1-0317C0D8D9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41DC2-B95D-474E-A103-7B49B85400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5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074A2-D88D-8F43-B619-246CA3905610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542CC-6F26-A34B-8E15-4341DD4E0F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9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07" y="1624877"/>
            <a:ext cx="3997787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926" y="5095875"/>
            <a:ext cx="7839075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925" y="1196299"/>
            <a:ext cx="7844102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baseline="0" dirty="0" smtClean="0">
                <a:solidFill>
                  <a:srgbClr val="E50856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895907"/>
            <a:ext cx="7839075" cy="3089275"/>
          </a:xfrm>
        </p:spPr>
        <p:txBody>
          <a:bodyPr>
            <a:normAutofit/>
          </a:bodyPr>
          <a:lstStyle>
            <a:lvl1pPr marL="0" indent="0">
              <a:buNone/>
              <a:defRPr sz="6750" b="1"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VOORBEELD VAN EEN TITEL_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91A77-E592-4927-BAD8-5D3406246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788670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4E48767-DBA0-4144-B07A-E0457FACA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4902" y="1917701"/>
            <a:ext cx="3600450" cy="4259263"/>
          </a:xfrm>
        </p:spPr>
        <p:txBody>
          <a:bodyPr>
            <a:normAutofit/>
          </a:bodyPr>
          <a:lstStyle>
            <a:lvl1pPr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1329CB-FA5D-45B5-AA42-AC585215A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CE54818A-2359-4656-8BAE-BA7A617F31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750B259D-85C8-43A7-A164-0E5FF89B8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2362200" y="733425"/>
            <a:ext cx="44196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2" y="601590"/>
            <a:ext cx="355939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0162" y="5429601"/>
            <a:ext cx="3683000" cy="49371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162" y="1628775"/>
            <a:ext cx="3683000" cy="36004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07" y="6227764"/>
            <a:ext cx="1359194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0" kern="1200" baseline="0" dirty="0">
          <a:solidFill>
            <a:srgbClr val="E50056"/>
          </a:solidFill>
          <a:latin typeface="Avenir Next Condensed" panose="020B05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28585" indent="-128585" algn="l" defTabSz="514337" rtl="0" eaLnBrk="1" latinLnBrk="0" hangingPunct="1">
        <a:lnSpc>
          <a:spcPct val="8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AI Fundamentals</a:t>
            </a:r>
          </a:p>
        </p:txBody>
      </p:sp>
    </p:spTree>
    <p:extLst>
      <p:ext uri="{BB962C8B-B14F-4D97-AF65-F5344CB8AC3E}">
        <p14:creationId xmlns:p14="http://schemas.microsoft.com/office/powerpoint/2010/main" val="21487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4"/>
    </mc:Choice>
    <mc:Fallback xmlns="">
      <p:transition spd="slow" advTm="86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What is intelligence?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What is artificial intelligence?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Examples of AI:</a:t>
            </a:r>
          </a:p>
          <a:p>
            <a:pPr marL="728653" lvl="1" indent="-342900">
              <a:lnSpc>
                <a:spcPct val="100000"/>
              </a:lnSpc>
            </a:pPr>
            <a:r>
              <a:rPr lang="en-US" b="1" noProof="0" dirty="0"/>
              <a:t>Linear and non-linear models</a:t>
            </a:r>
          </a:p>
          <a:p>
            <a:pPr marL="728653" lvl="1" indent="-342900">
              <a:lnSpc>
                <a:spcPct val="100000"/>
              </a:lnSpc>
            </a:pPr>
            <a:r>
              <a:rPr lang="en-US" b="1" noProof="0" dirty="0"/>
              <a:t>Deep learning</a:t>
            </a:r>
          </a:p>
          <a:p>
            <a:pPr marL="728653" lvl="1" indent="-342900">
              <a:lnSpc>
                <a:spcPct val="100000"/>
              </a:lnSpc>
            </a:pPr>
            <a:r>
              <a:rPr lang="en-US" b="1" noProof="0" dirty="0"/>
              <a:t>Image recognition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noProof="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noProof="0" dirty="0"/>
              <a:t>TL;DR : AI is automated pattern recognition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noProof="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034D514B-E4B3-5E2E-7E15-AF67D7021BD9}"/>
              </a:ext>
            </a:extLst>
          </p:cNvPr>
          <p:cNvSpPr txBox="1"/>
          <p:nvPr/>
        </p:nvSpPr>
        <p:spPr>
          <a:xfrm>
            <a:off x="1053548" y="11529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16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9"/>
    </mc:Choice>
    <mc:Fallback xmlns="">
      <p:transition spd="slow" advTm="45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8D0F9793-EF8E-EB50-51FC-E5FBC3A9F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925638"/>
            <a:ext cx="4059891" cy="42592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Intelligence: probably something in the brain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Brain: machine that receives input and produces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Inputs and outputs: electrical impulses running on biological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Detecting patterns in electrical impulses: intelligence.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9788FF0-8DBC-5F4D-7181-657982D6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intelligence?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CE8EF4A-55CA-90ED-30CE-89E93734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718" y="2550131"/>
            <a:ext cx="3109632" cy="310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80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6CE8F03-507B-C54C-5C4E-1060EC7F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AI?</a:t>
            </a:r>
          </a:p>
        </p:txBody>
      </p:sp>
      <p:pic>
        <p:nvPicPr>
          <p:cNvPr id="6" name="Afbeelding 5" descr="Afbeelding met schets, person, kleding, tekenfilm&#10;&#10;Door AI gegenereerde inhoud is mogelijk onjuist.">
            <a:extLst>
              <a:ext uri="{FF2B5EF4-FFF2-40B4-BE49-F238E27FC236}">
                <a16:creationId xmlns:a16="http://schemas.microsoft.com/office/drawing/2014/main" id="{B0D1E3C4-9037-52A0-80D9-FDEC7723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2340769"/>
            <a:ext cx="3433905" cy="342900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42A3E5EF-1C21-D74A-C08E-4D77AF83F2C6}"/>
              </a:ext>
            </a:extLst>
          </p:cNvPr>
          <p:cNvSpPr txBox="1"/>
          <p:nvPr/>
        </p:nvSpPr>
        <p:spPr>
          <a:xfrm>
            <a:off x="2875074" y="5727716"/>
            <a:ext cx="3779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source: https://</a:t>
            </a:r>
            <a:r>
              <a:rPr lang="en-US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www.instagram.com</a:t>
            </a:r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sandserifcomics</a:t>
            </a:r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3541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7CFF0D1E-7F19-91C1-F97D-08A86CF8FF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“AI is that which is not yet possible”:</a:t>
            </a:r>
          </a:p>
          <a:p>
            <a:pPr marL="728653" lvl="1" indent="-342900"/>
            <a:r>
              <a:rPr lang="en-US" noProof="0" dirty="0"/>
              <a:t>Playing chess (solved in 1990s)</a:t>
            </a:r>
          </a:p>
          <a:p>
            <a:pPr marL="728653" lvl="1" indent="-342900"/>
            <a:r>
              <a:rPr lang="en-US" noProof="0" dirty="0"/>
              <a:t>Playing go (solved in 2010s)</a:t>
            </a:r>
          </a:p>
          <a:p>
            <a:pPr marL="728653" lvl="1" indent="-342900"/>
            <a:r>
              <a:rPr lang="en-US" noProof="0" dirty="0"/>
              <a:t>Image recognition (solved in 2010s)</a:t>
            </a:r>
          </a:p>
          <a:p>
            <a:pPr marL="728653" lvl="1" indent="-342900"/>
            <a:r>
              <a:rPr lang="en-US" noProof="0" dirty="0"/>
              <a:t>Self-driving cars (80% done in 2025)</a:t>
            </a:r>
          </a:p>
          <a:p>
            <a:pPr marL="728653" lvl="1" indent="-342900"/>
            <a:r>
              <a:rPr lang="en-US" noProof="0" dirty="0"/>
              <a:t>Speech recognition (90% ? done in 2025)</a:t>
            </a:r>
          </a:p>
          <a:p>
            <a:pPr marL="728653" lvl="1" indent="-342900"/>
            <a:r>
              <a:rPr lang="en-US" noProof="0" dirty="0"/>
              <a:t>Producing coherent language (done in 2025)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These are all examples of pattern recognition.</a:t>
            </a:r>
          </a:p>
          <a:p>
            <a:pPr marL="342900" indent="-342900"/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1E3076-2A02-3BFB-288E-14A9167F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AI? No, but really</a:t>
            </a:r>
          </a:p>
        </p:txBody>
      </p:sp>
    </p:spTree>
    <p:extLst>
      <p:ext uri="{BB962C8B-B14F-4D97-AF65-F5344CB8AC3E}">
        <p14:creationId xmlns:p14="http://schemas.microsoft.com/office/powerpoint/2010/main" val="321150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245E-55C3-1861-70FD-548DD087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48CCDE1-8FEE-4942-F6E1-50147572CF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What can be done with computers in:</a:t>
            </a:r>
          </a:p>
          <a:p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1940s – 1950s: math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1960s – 1950s: store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1980s – 1990s: automate business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2000s – 2010s: automate industrial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1990s – now: pattern recognition (see next slide)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D010CDC-02E6-DAC1-7386-09196460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history of computers: TL;DR version</a:t>
            </a:r>
          </a:p>
        </p:txBody>
      </p:sp>
    </p:spTree>
    <p:extLst>
      <p:ext uri="{BB962C8B-B14F-4D97-AF65-F5344CB8AC3E}">
        <p14:creationId xmlns:p14="http://schemas.microsoft.com/office/powerpoint/2010/main" val="396753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0E4083E-E85E-0C0D-538F-1A872D6379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Hamming, 1997: “The next big area [in computing] is, I believe, pattern recognition.”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1990 – 2010: statistical foundations</a:t>
            </a:r>
          </a:p>
          <a:p>
            <a:pPr marL="728653" lvl="1" indent="-342900"/>
            <a:r>
              <a:rPr lang="en-US" noProof="0" dirty="0"/>
              <a:t>“When we say ’AI’ we mean: ‘lookup table’’.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2012: deep learning</a:t>
            </a:r>
          </a:p>
          <a:p>
            <a:pPr marL="728653" lvl="1" indent="-342900"/>
            <a:r>
              <a:rPr lang="en-US" noProof="0" dirty="0"/>
              <a:t>Computers determine connections between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2017: transformers</a:t>
            </a:r>
          </a:p>
          <a:p>
            <a:pPr marL="728653" lvl="1" indent="-342900"/>
            <a:r>
              <a:rPr lang="en-US" noProof="0" dirty="0"/>
              <a:t>Deep learning, treating connections as vectors (see next slide)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2023: chatGPT4</a:t>
            </a:r>
          </a:p>
          <a:p>
            <a:pPr marL="728653" lvl="1" indent="-342900"/>
            <a:r>
              <a:rPr lang="en-US" noProof="0" dirty="0"/>
              <a:t>Language model based (probably) on transformers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814A22-6F74-421B-63E7-DE7627AA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history of pattern recognition in computing</a:t>
            </a:r>
          </a:p>
        </p:txBody>
      </p:sp>
    </p:spTree>
    <p:extLst>
      <p:ext uri="{BB962C8B-B14F-4D97-AF65-F5344CB8AC3E}">
        <p14:creationId xmlns:p14="http://schemas.microsoft.com/office/powerpoint/2010/main" val="178399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AA0F07A7-FD6B-8A57-9521-6C97350E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4" y="1696019"/>
            <a:ext cx="6651811" cy="3507980"/>
          </a:xfrm>
          <a:prstGeom prst="rect">
            <a:avLst/>
          </a:prstGeom>
        </p:spPr>
      </p:pic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8607CE4-4A27-EB97-F266-A6973AEEA2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925637"/>
            <a:ext cx="7886700" cy="4026927"/>
          </a:xfrm>
        </p:spPr>
        <p:txBody>
          <a:bodyPr>
            <a:normAutofit lnSpcReduction="1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So-called “vector databases” store these connections (vectors) as sets of numbers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A92FE6B-221C-A7B2-8567-F8C9E811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Connections between inputs as vectors</a:t>
            </a:r>
          </a:p>
        </p:txBody>
      </p:sp>
    </p:spTree>
    <p:extLst>
      <p:ext uri="{BB962C8B-B14F-4D97-AF65-F5344CB8AC3E}">
        <p14:creationId xmlns:p14="http://schemas.microsoft.com/office/powerpoint/2010/main" val="104801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1641528-BCF4-94C5-1386-114ED9A011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Linear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Non-linear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Deep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Image recognition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5763B5-6D70-FA0C-75CC-B2ACA9EF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types of patterns</a:t>
            </a:r>
          </a:p>
        </p:txBody>
      </p:sp>
    </p:spTree>
    <p:extLst>
      <p:ext uri="{BB962C8B-B14F-4D97-AF65-F5344CB8AC3E}">
        <p14:creationId xmlns:p14="http://schemas.microsoft.com/office/powerpoint/2010/main" val="79858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6EC0-ED46-A795-86B8-7D15A820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8A5F2C97-B105-6ED8-EF92-5447BA808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224" y="4193841"/>
            <a:ext cx="5423646" cy="2299030"/>
          </a:xfrm>
          <a:prstGeom prst="rect">
            <a:avLst/>
          </a:prstGeom>
        </p:spPr>
      </p:pic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83450C4-F353-BB6F-1619-52F137DC2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Linear models can be used for classification (as in the images below) or for “regression”: predicting a specific output given a specific input).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Linear models can have more than two dimensions!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 linear model is called a “hyperplane”: a plane with one dimension less than the number of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For classification, the hyperplane should separate classes. For regression, points should be as close as possible to the hyperplane.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B1E296-3F6E-98B5-E311-1074844A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Linear models</a:t>
            </a:r>
          </a:p>
        </p:txBody>
      </p:sp>
    </p:spTree>
    <p:extLst>
      <p:ext uri="{BB962C8B-B14F-4D97-AF65-F5344CB8AC3E}">
        <p14:creationId xmlns:p14="http://schemas.microsoft.com/office/powerpoint/2010/main" val="239122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FE1F1F14-CB82-F892-9448-5F7A1EED9A2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628650" y="1925638"/>
                <a:ext cx="7886700" cy="42592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Many things in the real world are linear, but many things are not.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Example: logistic curve plotting intelligibility of a child’s speech against its age in months.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Formula is: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𝑎𝑠𝑦𝑚𝑝𝑡𝑜𝑡𝑒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⁡(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𝑚𝑖𝑑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𝑠𝑐𝑎𝑙𝑒</m:t>
                        </m:r>
                      </m:den>
                    </m:f>
                  </m:oMath>
                </a14:m>
                <a:endParaRPr lang="en-U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Much more complicated formulas are possible.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noProof="0" dirty="0"/>
              </a:p>
            </p:txBody>
          </p:sp>
        </mc:Choice>
        <mc:Fallback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FE1F1F14-CB82-F892-9448-5F7A1EED9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628650" y="1925638"/>
                <a:ext cx="7886700" cy="4259262"/>
              </a:xfrm>
              <a:blipFill>
                <a:blip r:embed="rId2"/>
                <a:stretch>
                  <a:fillRect l="-643" t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C7FBA37E-BE7D-65F6-2A08-19D9477A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Non-linear models</a:t>
            </a:r>
          </a:p>
        </p:txBody>
      </p:sp>
      <p:pic>
        <p:nvPicPr>
          <p:cNvPr id="6" name="Afbeelding 5" descr="Afbeelding met lijn, Perceel, diagram, tekst&#10;&#10;Door AI gegenereerde inhoud is mogelijk onjuist.">
            <a:extLst>
              <a:ext uri="{FF2B5EF4-FFF2-40B4-BE49-F238E27FC236}">
                <a16:creationId xmlns:a16="http://schemas.microsoft.com/office/drawing/2014/main" id="{6297B68E-7189-0C87-E738-D9BECFF82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54" y="3860949"/>
            <a:ext cx="3155576" cy="1945938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F757241E-4A03-AE8D-2ADD-2269CFBF4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565" y="4055269"/>
            <a:ext cx="1657350" cy="1557083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382ECCB-05C3-CD11-83A9-EE6C89B4B574}"/>
              </a:ext>
            </a:extLst>
          </p:cNvPr>
          <p:cNvSpPr txBox="1"/>
          <p:nvPr/>
        </p:nvSpPr>
        <p:spPr>
          <a:xfrm>
            <a:off x="1262372" y="5958408"/>
            <a:ext cx="4309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source: https://r-</a:t>
            </a:r>
            <a:r>
              <a:rPr lang="en-US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craft.org</a:t>
            </a:r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/anatomy-of-a-logistic-growth-curve/</a:t>
            </a:r>
          </a:p>
        </p:txBody>
      </p:sp>
    </p:spTree>
    <p:extLst>
      <p:ext uri="{BB962C8B-B14F-4D97-AF65-F5344CB8AC3E}">
        <p14:creationId xmlns:p14="http://schemas.microsoft.com/office/powerpoint/2010/main" val="346898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1A50F8D-1321-5F03-8F4B-5494B4C99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Many non-linear models can not be captured using “simple” formulas like the one in the previous sheet.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These require </a:t>
            </a:r>
            <a:r>
              <a:rPr lang="en-US" b="1" noProof="0" dirty="0"/>
              <a:t>combinations</a:t>
            </a:r>
            <a:r>
              <a:rPr lang="en-US" noProof="0" dirty="0"/>
              <a:t> of functions (formulas).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Such combinations are called “neural networks”. They were invented in the 1940s.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 smallest possible neural network is a combination of one “regular” function and one so-called “activation function”.</a:t>
            </a:r>
          </a:p>
          <a:p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D6AADCD-306F-F9A9-AF0E-7584EB78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Deep learning: neural networks (1)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C512825-A582-F076-9AFE-C4253357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8" y="4388723"/>
            <a:ext cx="1434726" cy="144431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C996304-66BD-0A63-6EA0-EECCBBA68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11" y="4388723"/>
            <a:ext cx="1457179" cy="144431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11BE2FA-E57A-9511-B20F-E8500E813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627" y="4388723"/>
            <a:ext cx="1376872" cy="1376872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9AAD6EEB-E88B-F29E-6304-815F8BD527BC}"/>
              </a:ext>
            </a:extLst>
          </p:cNvPr>
          <p:cNvSpPr txBox="1"/>
          <p:nvPr/>
        </p:nvSpPr>
        <p:spPr>
          <a:xfrm>
            <a:off x="3316942" y="49485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B1E0CBE-8DD0-DD61-5C3B-DDD8848D59FA}"/>
              </a:ext>
            </a:extLst>
          </p:cNvPr>
          <p:cNvSpPr txBox="1"/>
          <p:nvPr/>
        </p:nvSpPr>
        <p:spPr>
          <a:xfrm>
            <a:off x="5540026" y="49262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=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EBF6EB01-D0B8-6C45-6228-E90C9A6FC9E0}"/>
              </a:ext>
            </a:extLst>
          </p:cNvPr>
          <p:cNvSpPr txBox="1"/>
          <p:nvPr/>
        </p:nvSpPr>
        <p:spPr>
          <a:xfrm>
            <a:off x="2026280" y="5853388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f(x) = x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DD4BA25-0692-8E26-650A-241F384262F1}"/>
              </a:ext>
            </a:extLst>
          </p:cNvPr>
          <p:cNvSpPr txBox="1"/>
          <p:nvPr/>
        </p:nvSpPr>
        <p:spPr>
          <a:xfrm>
            <a:off x="3821911" y="5844655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g(x) = 1/(1 + e</a:t>
            </a:r>
            <a:r>
              <a:rPr lang="en-US" baseline="30000" noProof="0" dirty="0">
                <a:latin typeface="Arial" panose="020B0604020202020204" pitchFamily="34" charset="0"/>
                <a:cs typeface="Arial" panose="020B0604020202020204" pitchFamily="34" charset="0"/>
              </a:rPr>
              <a:t>-x</a:t>
            </a:r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646B55E-E9C6-B076-44B7-B50928AC864B}"/>
              </a:ext>
            </a:extLst>
          </p:cNvPr>
          <p:cNvSpPr txBox="1"/>
          <p:nvPr/>
        </p:nvSpPr>
        <p:spPr>
          <a:xfrm>
            <a:off x="6387162" y="585938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f(g(x))</a:t>
            </a:r>
          </a:p>
        </p:txBody>
      </p:sp>
    </p:spTree>
    <p:extLst>
      <p:ext uri="{BB962C8B-B14F-4D97-AF65-F5344CB8AC3E}">
        <p14:creationId xmlns:p14="http://schemas.microsoft.com/office/powerpoint/2010/main" val="4062194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92A840A-9E0D-3F92-4274-346F0EECC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noProof="0" dirty="0"/>
              <a:t>In practice, neural networks are a bit more complicated than “function going into activation function”.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noProof="0" dirty="0"/>
              <a:t>It turns out </a:t>
            </a:r>
            <a:r>
              <a:rPr lang="en-US" sz="1800" i="1" noProof="0" dirty="0"/>
              <a:t>networks</a:t>
            </a:r>
            <a:r>
              <a:rPr lang="en-US" sz="1800" noProof="0" dirty="0"/>
              <a:t> of functions are easier to train.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noProof="0" dirty="0"/>
              <a:t>Such networks often stack functions in layers.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noProof="0" dirty="0"/>
              <a:t>Because a lot of work is done inside layers, the learning is said to be “deep”: Deep Learning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41BDCB-AB40-F103-C6E8-C3752CF5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Deep learning: neural networks (2)</a:t>
            </a:r>
          </a:p>
        </p:txBody>
      </p:sp>
      <p:pic>
        <p:nvPicPr>
          <p:cNvPr id="5" name="Afbeelding 4" descr="Afbeelding met diagram, cirkel, lijn&#10;&#10;Door AI gegenereerde inhoud is mogelijk onjuist.">
            <a:extLst>
              <a:ext uri="{FF2B5EF4-FFF2-40B4-BE49-F238E27FC236}">
                <a16:creationId xmlns:a16="http://schemas.microsoft.com/office/drawing/2014/main" id="{1C81CC01-9AA0-0F8B-BB93-54B7166D5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85" y="3774141"/>
            <a:ext cx="3613429" cy="271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3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DD3ED0A0-02DC-1344-E662-43A420559DB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The computer has to figure out how much of each function in a neural network to use.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Example:</a:t>
                </a:r>
              </a:p>
              <a:p>
                <a:pPr marL="728653" lvl="1" indent="-342900"/>
                <a:r>
                  <a:rPr lang="en-US" noProof="0" dirty="0"/>
                  <a:t>Given two input functions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noProof="0" dirty="0"/>
                  <a:t>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noProof="0" dirty="0"/>
              </a:p>
              <a:p>
                <a:pPr marL="728653" lvl="1" indent="-342900"/>
                <a:r>
                  <a:rPr lang="en-US" noProof="0" dirty="0"/>
                  <a:t>Given one output function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noProof="0" dirty="0"/>
                  <a:t> that has the formula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noProof="0" dirty="0"/>
              </a:p>
              <a:p>
                <a:pPr marL="728653" lvl="1" indent="-342900"/>
                <a:r>
                  <a:rPr lang="en-US" noProof="0" dirty="0"/>
                  <a:t>If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noProof="0" dirty="0"/>
                  <a:t>and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noProof="0" dirty="0"/>
                  <a:t> we have: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noProof="0" dirty="0"/>
                  <a:t> are called the </a:t>
                </a:r>
                <a:r>
                  <a:rPr lang="en-US" b="1" noProof="0" dirty="0"/>
                  <a:t>weights </a:t>
                </a:r>
                <a:r>
                  <a:rPr lang="en-US" noProof="0" dirty="0"/>
                  <a:t>of the two inputs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In deep learning, the computer attempts to find the best values for the weights, in this case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noProof="0" dirty="0"/>
                  <a:t> 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If the network of functions is complicated, such as in the previous slide, it takes a lot of work to calculate all the weights. Again, much of that work is done inside the deeper layers of the network, hence the name “deep learning”.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noProof="0" dirty="0"/>
                  <a:t>Calculating weights is called </a:t>
                </a:r>
                <a:r>
                  <a:rPr lang="en-US" b="1" noProof="0" dirty="0"/>
                  <a:t>training</a:t>
                </a:r>
                <a:r>
                  <a:rPr lang="en-US" noProof="0" dirty="0"/>
                  <a:t>.</a:t>
                </a:r>
              </a:p>
            </p:txBody>
          </p:sp>
        </mc:Choice>
        <mc:Fallback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DD3ED0A0-02DC-1344-E662-43A420559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219826D8-30BA-2F7F-03A6-7DC7C0A2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makes deep learning “learning”?</a:t>
            </a:r>
          </a:p>
        </p:txBody>
      </p:sp>
    </p:spTree>
    <p:extLst>
      <p:ext uri="{BB962C8B-B14F-4D97-AF65-F5344CB8AC3E}">
        <p14:creationId xmlns:p14="http://schemas.microsoft.com/office/powerpoint/2010/main" val="3923469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738D7BB-1AD2-0C0D-739F-B513DFD53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925638"/>
            <a:ext cx="3574382" cy="42592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Image recognition is done with networks of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 inputs to this network are the values of each of the pixels of the image.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Images have a </a:t>
            </a:r>
            <a:r>
              <a:rPr lang="en-US" i="1" noProof="0" dirty="0"/>
              <a:t>lot</a:t>
            </a:r>
            <a:r>
              <a:rPr lang="en-US" b="1" i="1" noProof="0" dirty="0"/>
              <a:t> </a:t>
            </a:r>
            <a:r>
              <a:rPr lang="en-US" noProof="0" dirty="0"/>
              <a:t>of pixels, so part of the network serves to summarize groups of pixels.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 function that summarizes groups of pixels is called a </a:t>
            </a:r>
            <a:r>
              <a:rPr lang="en-US" b="1" noProof="0" dirty="0"/>
              <a:t>convolution</a:t>
            </a:r>
            <a:r>
              <a:rPr lang="en-US" noProof="0" dirty="0"/>
              <a:t> (hence: convolution neural network or </a:t>
            </a:r>
            <a:r>
              <a:rPr lang="en-US" noProof="0" dirty="0" err="1"/>
              <a:t>cnn</a:t>
            </a:r>
            <a:r>
              <a:rPr lang="en-US" noProof="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659B6DE-B88C-18B0-897C-F0DFA8F1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recognition (1)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8CB6F8F-B4F8-C643-2AB4-336CBBEB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782" y="1165810"/>
            <a:ext cx="2856390" cy="2192264"/>
          </a:xfrm>
          <a:prstGeom prst="rect">
            <a:avLst/>
          </a:prstGeom>
        </p:spPr>
      </p:pic>
      <p:grpSp>
        <p:nvGrpSpPr>
          <p:cNvPr id="6" name="Group 1">
            <a:extLst>
              <a:ext uri="{FF2B5EF4-FFF2-40B4-BE49-F238E27FC236}">
                <a16:creationId xmlns:a16="http://schemas.microsoft.com/office/drawing/2014/main" id="{FF7162C2-703C-00F0-D632-1E60E64317D0}"/>
              </a:ext>
            </a:extLst>
          </p:cNvPr>
          <p:cNvGrpSpPr>
            <a:grpSpLocks/>
          </p:cNvGrpSpPr>
          <p:nvPr/>
        </p:nvGrpSpPr>
        <p:grpSpPr bwMode="auto">
          <a:xfrm>
            <a:off x="4882660" y="3571874"/>
            <a:ext cx="3468051" cy="2670529"/>
            <a:chOff x="251520" y="1502786"/>
            <a:chExt cx="8241514" cy="4266474"/>
          </a:xfrm>
        </p:grpSpPr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81A0069B-41A9-6146-C921-2E7C7F4EF177}"/>
                </a:ext>
              </a:extLst>
            </p:cNvPr>
            <p:cNvSpPr/>
            <p:nvPr/>
          </p:nvSpPr>
          <p:spPr bwMode="auto">
            <a:xfrm>
              <a:off x="3935153" y="1528181"/>
              <a:ext cx="505886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BFE41040-EDF6-17A9-7E53-0D6A4162D212}"/>
                </a:ext>
              </a:extLst>
            </p:cNvPr>
            <p:cNvSpPr/>
            <p:nvPr/>
          </p:nvSpPr>
          <p:spPr bwMode="auto">
            <a:xfrm>
              <a:off x="251520" y="2961883"/>
              <a:ext cx="935643" cy="9350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28x28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7567569-38ED-9D75-9ACD-C896ADFEC449}"/>
                </a:ext>
              </a:extLst>
            </p:cNvPr>
            <p:cNvSpPr/>
            <p:nvPr/>
          </p:nvSpPr>
          <p:spPr bwMode="auto">
            <a:xfrm>
              <a:off x="1548159" y="1701334"/>
              <a:ext cx="503431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cxnSp>
          <p:nvCxnSpPr>
            <p:cNvPr id="10" name="Straight Arrow Connector 7">
              <a:extLst>
                <a:ext uri="{FF2B5EF4-FFF2-40B4-BE49-F238E27FC236}">
                  <a16:creationId xmlns:a16="http://schemas.microsoft.com/office/drawing/2014/main" id="{0ECB527C-ED7C-D71A-0EE8-35FB18385AB7}"/>
                </a:ext>
              </a:extLst>
            </p:cNvPr>
            <p:cNvCxnSpPr>
              <a:cxnSpLocks noChangeShapeType="1"/>
              <a:stCxn id="8" idx="3"/>
              <a:endCxn id="9" idx="1"/>
            </p:cNvCxnSpPr>
            <p:nvPr/>
          </p:nvCxnSpPr>
          <p:spPr bwMode="auto">
            <a:xfrm flipV="1">
              <a:off x="1187624" y="1916832"/>
              <a:ext cx="360040" cy="1512168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16A222F8-0FCA-9070-FF47-4DD4C53D8695}"/>
                </a:ext>
              </a:extLst>
            </p:cNvPr>
            <p:cNvSpPr/>
            <p:nvPr/>
          </p:nvSpPr>
          <p:spPr bwMode="auto">
            <a:xfrm>
              <a:off x="2412584" y="1502786"/>
              <a:ext cx="827590" cy="8288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26x26</a:t>
              </a:r>
            </a:p>
          </p:txBody>
        </p:sp>
        <p:cxnSp>
          <p:nvCxnSpPr>
            <p:cNvPr id="12" name="Straight Arrow Connector 2">
              <a:extLst>
                <a:ext uri="{FF2B5EF4-FFF2-40B4-BE49-F238E27FC236}">
                  <a16:creationId xmlns:a16="http://schemas.microsoft.com/office/drawing/2014/main" id="{DFBE5EEB-B62A-8F49-6EE5-DC877A634E84}"/>
                </a:ext>
              </a:extLst>
            </p:cNvPr>
            <p:cNvCxnSpPr>
              <a:cxnSpLocks noChangeShapeType="1"/>
              <a:stCxn id="9" idx="3"/>
              <a:endCxn id="11" idx="1"/>
            </p:cNvCxnSpPr>
            <p:nvPr/>
          </p:nvCxnSpPr>
          <p:spPr bwMode="auto">
            <a:xfrm>
              <a:off x="2051720" y="1916832"/>
              <a:ext cx="360040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7ABF866A-F74F-07F2-DCED-E783BC4926B3}"/>
                </a:ext>
              </a:extLst>
            </p:cNvPr>
            <p:cNvSpPr/>
            <p:nvPr/>
          </p:nvSpPr>
          <p:spPr bwMode="auto">
            <a:xfrm>
              <a:off x="1548159" y="2827979"/>
              <a:ext cx="503431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ED7A8428-3D99-51FF-D29D-CAE9BA09CC18}"/>
                </a:ext>
              </a:extLst>
            </p:cNvPr>
            <p:cNvSpPr/>
            <p:nvPr/>
          </p:nvSpPr>
          <p:spPr bwMode="auto">
            <a:xfrm>
              <a:off x="2412584" y="2629431"/>
              <a:ext cx="827590" cy="82882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26x26</a:t>
              </a:r>
            </a:p>
          </p:txBody>
        </p:sp>
        <p:cxnSp>
          <p:nvCxnSpPr>
            <p:cNvPr id="15" name="Straight Arrow Connector 10">
              <a:extLst>
                <a:ext uri="{FF2B5EF4-FFF2-40B4-BE49-F238E27FC236}">
                  <a16:creationId xmlns:a16="http://schemas.microsoft.com/office/drawing/2014/main" id="{880C3917-0A8B-4A3A-A8D0-C07AC2E26011}"/>
                </a:ext>
              </a:extLst>
            </p:cNvPr>
            <p:cNvCxnSpPr>
              <a:cxnSpLocks noChangeShapeType="1"/>
              <a:stCxn id="13" idx="3"/>
              <a:endCxn id="14" idx="1"/>
            </p:cNvCxnSpPr>
            <p:nvPr/>
          </p:nvCxnSpPr>
          <p:spPr bwMode="auto">
            <a:xfrm>
              <a:off x="2051720" y="3043802"/>
              <a:ext cx="360040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2EC4795D-8683-1153-082F-887F690EA1A4}"/>
                </a:ext>
              </a:extLst>
            </p:cNvPr>
            <p:cNvSpPr/>
            <p:nvPr/>
          </p:nvSpPr>
          <p:spPr bwMode="auto">
            <a:xfrm>
              <a:off x="1548159" y="4012340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C03CCB6E-AB71-93E4-C505-B294F8ECDED9}"/>
                </a:ext>
              </a:extLst>
            </p:cNvPr>
            <p:cNvSpPr/>
            <p:nvPr/>
          </p:nvSpPr>
          <p:spPr bwMode="auto">
            <a:xfrm>
              <a:off x="2412584" y="3813792"/>
              <a:ext cx="827590" cy="82882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26x26</a:t>
              </a:r>
            </a:p>
          </p:txBody>
        </p:sp>
        <p:cxnSp>
          <p:nvCxnSpPr>
            <p:cNvPr id="18" name="Straight Arrow Connector 16">
              <a:extLst>
                <a:ext uri="{FF2B5EF4-FFF2-40B4-BE49-F238E27FC236}">
                  <a16:creationId xmlns:a16="http://schemas.microsoft.com/office/drawing/2014/main" id="{F472B27E-940B-D83D-7A6A-15DB044A9DD1}"/>
                </a:ext>
              </a:extLst>
            </p:cNvPr>
            <p:cNvCxnSpPr>
              <a:cxnSpLocks noChangeShapeType="1"/>
              <a:stCxn id="16" idx="3"/>
              <a:endCxn id="17" idx="1"/>
            </p:cNvCxnSpPr>
            <p:nvPr/>
          </p:nvCxnSpPr>
          <p:spPr bwMode="auto">
            <a:xfrm>
              <a:off x="2051720" y="4228244"/>
              <a:ext cx="360040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4987138B-2446-15F0-A6D6-33D71314FDD0}"/>
                </a:ext>
              </a:extLst>
            </p:cNvPr>
            <p:cNvSpPr/>
            <p:nvPr/>
          </p:nvSpPr>
          <p:spPr bwMode="auto">
            <a:xfrm>
              <a:off x="1548159" y="5138985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6333C305-C935-065E-F0D9-0AC68026018F}"/>
                </a:ext>
              </a:extLst>
            </p:cNvPr>
            <p:cNvSpPr/>
            <p:nvPr/>
          </p:nvSpPr>
          <p:spPr bwMode="auto">
            <a:xfrm>
              <a:off x="2412584" y="4940437"/>
              <a:ext cx="827590" cy="82882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26x26</a:t>
              </a:r>
            </a:p>
          </p:txBody>
        </p:sp>
        <p:cxnSp>
          <p:nvCxnSpPr>
            <p:cNvPr id="21" name="Straight Arrow Connector 19">
              <a:extLst>
                <a:ext uri="{FF2B5EF4-FFF2-40B4-BE49-F238E27FC236}">
                  <a16:creationId xmlns:a16="http://schemas.microsoft.com/office/drawing/2014/main" id="{A1F6B576-9BE5-A785-1091-AA9063FF0BB7}"/>
                </a:ext>
              </a:extLst>
            </p:cNvPr>
            <p:cNvCxnSpPr>
              <a:cxnSpLocks noChangeShapeType="1"/>
              <a:stCxn id="19" idx="3"/>
              <a:endCxn id="20" idx="1"/>
            </p:cNvCxnSpPr>
            <p:nvPr/>
          </p:nvCxnSpPr>
          <p:spPr bwMode="auto">
            <a:xfrm>
              <a:off x="2051720" y="5355214"/>
              <a:ext cx="360040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Straight Arrow Connector 3">
              <a:extLst>
                <a:ext uri="{FF2B5EF4-FFF2-40B4-BE49-F238E27FC236}">
                  <a16:creationId xmlns:a16="http://schemas.microsoft.com/office/drawing/2014/main" id="{1C647C0A-07B6-447B-BD73-6D647FCC46B8}"/>
                </a:ext>
              </a:extLst>
            </p:cNvPr>
            <p:cNvCxnSpPr>
              <a:cxnSpLocks noChangeShapeType="1"/>
              <a:stCxn id="8" idx="3"/>
              <a:endCxn id="13" idx="1"/>
            </p:cNvCxnSpPr>
            <p:nvPr/>
          </p:nvCxnSpPr>
          <p:spPr bwMode="auto">
            <a:xfrm flipV="1">
              <a:off x="1187624" y="3043802"/>
              <a:ext cx="360040" cy="385198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Straight Arrow Connector 21">
              <a:extLst>
                <a:ext uri="{FF2B5EF4-FFF2-40B4-BE49-F238E27FC236}">
                  <a16:creationId xmlns:a16="http://schemas.microsoft.com/office/drawing/2014/main" id="{C439F38B-EA31-4623-26E4-A151E57AA429}"/>
                </a:ext>
              </a:extLst>
            </p:cNvPr>
            <p:cNvCxnSpPr>
              <a:cxnSpLocks noChangeShapeType="1"/>
              <a:stCxn id="8" idx="3"/>
              <a:endCxn id="16" idx="1"/>
            </p:cNvCxnSpPr>
            <p:nvPr/>
          </p:nvCxnSpPr>
          <p:spPr bwMode="auto">
            <a:xfrm>
              <a:off x="1187624" y="3429000"/>
              <a:ext cx="360040" cy="799244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1048EAD-C110-DF49-E535-0368833AF521}"/>
                </a:ext>
              </a:extLst>
            </p:cNvPr>
            <p:cNvCxnSpPr>
              <a:cxnSpLocks noChangeShapeType="1"/>
              <a:stCxn id="8" idx="3"/>
              <a:endCxn id="19" idx="1"/>
            </p:cNvCxnSpPr>
            <p:nvPr/>
          </p:nvCxnSpPr>
          <p:spPr bwMode="auto">
            <a:xfrm>
              <a:off x="1187624" y="3429000"/>
              <a:ext cx="360040" cy="1926214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8F97C63-31AA-65E2-AB0D-3B22F129AE9F}"/>
                </a:ext>
              </a:extLst>
            </p:cNvPr>
            <p:cNvSpPr/>
            <p:nvPr/>
          </p:nvSpPr>
          <p:spPr bwMode="auto">
            <a:xfrm>
              <a:off x="3886037" y="1585899"/>
              <a:ext cx="503431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8B2BD57C-E902-E536-B16B-66014C2D8974}"/>
                </a:ext>
              </a:extLst>
            </p:cNvPr>
            <p:cNvSpPr/>
            <p:nvPr/>
          </p:nvSpPr>
          <p:spPr bwMode="auto">
            <a:xfrm>
              <a:off x="3836922" y="1643616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B9D3514E-0AC3-3497-C993-1D91CF1BFE0E}"/>
                </a:ext>
              </a:extLst>
            </p:cNvPr>
            <p:cNvSpPr/>
            <p:nvPr/>
          </p:nvSpPr>
          <p:spPr bwMode="auto">
            <a:xfrm>
              <a:off x="3782896" y="1701334"/>
              <a:ext cx="505886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A97C9DE4-968B-7E71-6568-F300F10F528E}"/>
                </a:ext>
              </a:extLst>
            </p:cNvPr>
            <p:cNvSpPr/>
            <p:nvPr/>
          </p:nvSpPr>
          <p:spPr bwMode="auto">
            <a:xfrm>
              <a:off x="3935153" y="2654826"/>
              <a:ext cx="505886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5EC9066-C872-4A24-9739-DA49C607AC87}"/>
                </a:ext>
              </a:extLst>
            </p:cNvPr>
            <p:cNvSpPr/>
            <p:nvPr/>
          </p:nvSpPr>
          <p:spPr bwMode="auto">
            <a:xfrm>
              <a:off x="3886037" y="2712544"/>
              <a:ext cx="503431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259C4688-423C-0A5B-0C7B-F1D6A484D465}"/>
                </a:ext>
              </a:extLst>
            </p:cNvPr>
            <p:cNvSpPr/>
            <p:nvPr/>
          </p:nvSpPr>
          <p:spPr bwMode="auto">
            <a:xfrm>
              <a:off x="3836922" y="2770261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6974F3CB-FD4E-3166-9101-B25751F4EDD9}"/>
                </a:ext>
              </a:extLst>
            </p:cNvPr>
            <p:cNvSpPr/>
            <p:nvPr/>
          </p:nvSpPr>
          <p:spPr bwMode="auto">
            <a:xfrm>
              <a:off x="3782896" y="2827979"/>
              <a:ext cx="505886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BF48445F-BC10-9306-1DF7-B9382CC9D8FF}"/>
                </a:ext>
              </a:extLst>
            </p:cNvPr>
            <p:cNvSpPr/>
            <p:nvPr/>
          </p:nvSpPr>
          <p:spPr bwMode="auto">
            <a:xfrm>
              <a:off x="3932698" y="3952314"/>
              <a:ext cx="503429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DBDCA373-1239-5B7B-5C32-55CB03416EEF}"/>
                </a:ext>
              </a:extLst>
            </p:cNvPr>
            <p:cNvSpPr/>
            <p:nvPr/>
          </p:nvSpPr>
          <p:spPr bwMode="auto">
            <a:xfrm>
              <a:off x="3881126" y="4010032"/>
              <a:ext cx="505886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4CD4FDAB-8D39-9E75-E455-3137560D191C}"/>
                </a:ext>
              </a:extLst>
            </p:cNvPr>
            <p:cNvSpPr/>
            <p:nvPr/>
          </p:nvSpPr>
          <p:spPr bwMode="auto">
            <a:xfrm>
              <a:off x="3832011" y="4067749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E2D43DF6-427F-C0A1-2FF5-E7FCFD01FBD6}"/>
                </a:ext>
              </a:extLst>
            </p:cNvPr>
            <p:cNvSpPr/>
            <p:nvPr/>
          </p:nvSpPr>
          <p:spPr bwMode="auto">
            <a:xfrm>
              <a:off x="3780441" y="4125467"/>
              <a:ext cx="503429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E9349B7A-9EEA-AC0C-0DA1-C6D9D648474D}"/>
                </a:ext>
              </a:extLst>
            </p:cNvPr>
            <p:cNvSpPr/>
            <p:nvPr/>
          </p:nvSpPr>
          <p:spPr bwMode="auto">
            <a:xfrm>
              <a:off x="3971990" y="5014315"/>
              <a:ext cx="503429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E5505874-F0AB-4A42-D7D6-6531B251192A}"/>
                </a:ext>
              </a:extLst>
            </p:cNvPr>
            <p:cNvSpPr/>
            <p:nvPr/>
          </p:nvSpPr>
          <p:spPr bwMode="auto">
            <a:xfrm>
              <a:off x="3920418" y="5072033"/>
              <a:ext cx="505886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0F0CDBDF-50A2-5FBF-AE1D-3B08C1A9CEEA}"/>
                </a:ext>
              </a:extLst>
            </p:cNvPr>
            <p:cNvSpPr/>
            <p:nvPr/>
          </p:nvSpPr>
          <p:spPr bwMode="auto">
            <a:xfrm>
              <a:off x="3871303" y="5129750"/>
              <a:ext cx="503431" cy="4317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1050" noProof="0" dirty="0"/>
                <a:t>3x3</a:t>
              </a: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51ADD8F7-BC22-AD97-9981-2FF148F69F21}"/>
                </a:ext>
              </a:extLst>
            </p:cNvPr>
            <p:cNvSpPr/>
            <p:nvPr/>
          </p:nvSpPr>
          <p:spPr bwMode="auto">
            <a:xfrm>
              <a:off x="3819733" y="5187468"/>
              <a:ext cx="503429" cy="4317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3x3</a:t>
              </a:r>
            </a:p>
          </p:txBody>
        </p:sp>
        <p:cxnSp>
          <p:nvCxnSpPr>
            <p:cNvPr id="40" name="Straight Arrow Connector 11">
              <a:extLst>
                <a:ext uri="{FF2B5EF4-FFF2-40B4-BE49-F238E27FC236}">
                  <a16:creationId xmlns:a16="http://schemas.microsoft.com/office/drawing/2014/main" id="{FE90B24B-62C3-5BDF-CFB6-13B981821D94}"/>
                </a:ext>
              </a:extLst>
            </p:cNvPr>
            <p:cNvCxnSpPr>
              <a:cxnSpLocks noChangeShapeType="1"/>
              <a:stCxn id="11" idx="3"/>
              <a:endCxn id="27" idx="1"/>
            </p:cNvCxnSpPr>
            <p:nvPr/>
          </p:nvCxnSpPr>
          <p:spPr bwMode="auto">
            <a:xfrm>
              <a:off x="3239852" y="1916832"/>
              <a:ext cx="544034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Arrow Connector 13">
              <a:extLst>
                <a:ext uri="{FF2B5EF4-FFF2-40B4-BE49-F238E27FC236}">
                  <a16:creationId xmlns:a16="http://schemas.microsoft.com/office/drawing/2014/main" id="{8AA5B77B-577D-CCFB-E862-001E7188EA60}"/>
                </a:ext>
              </a:extLst>
            </p:cNvPr>
            <p:cNvCxnSpPr>
              <a:cxnSpLocks noChangeShapeType="1"/>
              <a:stCxn id="11" idx="3"/>
              <a:endCxn id="31" idx="1"/>
            </p:cNvCxnSpPr>
            <p:nvPr/>
          </p:nvCxnSpPr>
          <p:spPr bwMode="auto">
            <a:xfrm>
              <a:off x="3239852" y="1916832"/>
              <a:ext cx="544034" cy="112697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Arrow Connector 39">
              <a:extLst>
                <a:ext uri="{FF2B5EF4-FFF2-40B4-BE49-F238E27FC236}">
                  <a16:creationId xmlns:a16="http://schemas.microsoft.com/office/drawing/2014/main" id="{4898C4AF-16B3-0E3B-CDCF-714605E962FA}"/>
                </a:ext>
              </a:extLst>
            </p:cNvPr>
            <p:cNvCxnSpPr>
              <a:cxnSpLocks noChangeShapeType="1"/>
              <a:stCxn id="11" idx="3"/>
              <a:endCxn id="35" idx="1"/>
            </p:cNvCxnSpPr>
            <p:nvPr/>
          </p:nvCxnSpPr>
          <p:spPr bwMode="auto">
            <a:xfrm>
              <a:off x="3239852" y="1916832"/>
              <a:ext cx="540060" cy="242483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Arrow Connector 41">
              <a:extLst>
                <a:ext uri="{FF2B5EF4-FFF2-40B4-BE49-F238E27FC236}">
                  <a16:creationId xmlns:a16="http://schemas.microsoft.com/office/drawing/2014/main" id="{2D26928B-9170-CC6E-FFCE-EE0CC5787882}"/>
                </a:ext>
              </a:extLst>
            </p:cNvPr>
            <p:cNvCxnSpPr>
              <a:cxnSpLocks noChangeShapeType="1"/>
              <a:stCxn id="11" idx="3"/>
              <a:endCxn id="39" idx="1"/>
            </p:cNvCxnSpPr>
            <p:nvPr/>
          </p:nvCxnSpPr>
          <p:spPr bwMode="auto">
            <a:xfrm>
              <a:off x="3239852" y="1916832"/>
              <a:ext cx="579466" cy="3486274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9301402-E7CC-EBE8-5F21-45E87C10B7C3}"/>
                </a:ext>
              </a:extLst>
            </p:cNvPr>
            <p:cNvCxnSpPr>
              <a:cxnSpLocks noChangeShapeType="1"/>
              <a:stCxn id="14" idx="3"/>
              <a:endCxn id="27" idx="1"/>
            </p:cNvCxnSpPr>
            <p:nvPr/>
          </p:nvCxnSpPr>
          <p:spPr bwMode="auto">
            <a:xfrm flipV="1">
              <a:off x="3239852" y="1916832"/>
              <a:ext cx="544034" cy="112697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Arrow Connector 45">
              <a:extLst>
                <a:ext uri="{FF2B5EF4-FFF2-40B4-BE49-F238E27FC236}">
                  <a16:creationId xmlns:a16="http://schemas.microsoft.com/office/drawing/2014/main" id="{2B41E868-82C5-0108-33E7-6D2FEA6F0CD4}"/>
                </a:ext>
              </a:extLst>
            </p:cNvPr>
            <p:cNvCxnSpPr>
              <a:cxnSpLocks noChangeShapeType="1"/>
              <a:stCxn id="14" idx="3"/>
              <a:endCxn id="31" idx="1"/>
            </p:cNvCxnSpPr>
            <p:nvPr/>
          </p:nvCxnSpPr>
          <p:spPr bwMode="auto">
            <a:xfrm>
              <a:off x="3239852" y="3043802"/>
              <a:ext cx="544034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Arrow Connector 47">
              <a:extLst>
                <a:ext uri="{FF2B5EF4-FFF2-40B4-BE49-F238E27FC236}">
                  <a16:creationId xmlns:a16="http://schemas.microsoft.com/office/drawing/2014/main" id="{73660363-104B-94DD-3F9E-55B533693C72}"/>
                </a:ext>
              </a:extLst>
            </p:cNvPr>
            <p:cNvCxnSpPr>
              <a:cxnSpLocks noChangeShapeType="1"/>
              <a:stCxn id="14" idx="3"/>
              <a:endCxn id="35" idx="1"/>
            </p:cNvCxnSpPr>
            <p:nvPr/>
          </p:nvCxnSpPr>
          <p:spPr bwMode="auto">
            <a:xfrm>
              <a:off x="3239852" y="3043802"/>
              <a:ext cx="540060" cy="129786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Arrow Connector 49">
              <a:extLst>
                <a:ext uri="{FF2B5EF4-FFF2-40B4-BE49-F238E27FC236}">
                  <a16:creationId xmlns:a16="http://schemas.microsoft.com/office/drawing/2014/main" id="{20FA54D6-5424-B684-EBC1-9643D0501724}"/>
                </a:ext>
              </a:extLst>
            </p:cNvPr>
            <p:cNvCxnSpPr>
              <a:cxnSpLocks noChangeShapeType="1"/>
              <a:stCxn id="14" idx="3"/>
              <a:endCxn id="39" idx="1"/>
            </p:cNvCxnSpPr>
            <p:nvPr/>
          </p:nvCxnSpPr>
          <p:spPr bwMode="auto">
            <a:xfrm>
              <a:off x="3239852" y="3043802"/>
              <a:ext cx="579466" cy="2359304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Straight Arrow Connector 51">
              <a:extLst>
                <a:ext uri="{FF2B5EF4-FFF2-40B4-BE49-F238E27FC236}">
                  <a16:creationId xmlns:a16="http://schemas.microsoft.com/office/drawing/2014/main" id="{099505D3-CEA1-5C4E-F6A8-398164D368C8}"/>
                </a:ext>
              </a:extLst>
            </p:cNvPr>
            <p:cNvCxnSpPr>
              <a:cxnSpLocks noChangeShapeType="1"/>
              <a:stCxn id="17" idx="3"/>
              <a:endCxn id="27" idx="1"/>
            </p:cNvCxnSpPr>
            <p:nvPr/>
          </p:nvCxnSpPr>
          <p:spPr bwMode="auto">
            <a:xfrm flipV="1">
              <a:off x="3239852" y="1916832"/>
              <a:ext cx="544034" cy="231141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Straight Arrow Connector 53">
              <a:extLst>
                <a:ext uri="{FF2B5EF4-FFF2-40B4-BE49-F238E27FC236}">
                  <a16:creationId xmlns:a16="http://schemas.microsoft.com/office/drawing/2014/main" id="{7CC0E58B-FC00-20E4-49C9-F756DE8A5B66}"/>
                </a:ext>
              </a:extLst>
            </p:cNvPr>
            <p:cNvCxnSpPr>
              <a:cxnSpLocks noChangeShapeType="1"/>
              <a:stCxn id="17" idx="3"/>
              <a:endCxn id="31" idx="1"/>
            </p:cNvCxnSpPr>
            <p:nvPr/>
          </p:nvCxnSpPr>
          <p:spPr bwMode="auto">
            <a:xfrm flipV="1">
              <a:off x="3239852" y="3043802"/>
              <a:ext cx="544034" cy="118444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Arrow Connector 55">
              <a:extLst>
                <a:ext uri="{FF2B5EF4-FFF2-40B4-BE49-F238E27FC236}">
                  <a16:creationId xmlns:a16="http://schemas.microsoft.com/office/drawing/2014/main" id="{57B5049A-69A6-3FBB-B58E-AAF007223745}"/>
                </a:ext>
              </a:extLst>
            </p:cNvPr>
            <p:cNvCxnSpPr>
              <a:cxnSpLocks noChangeShapeType="1"/>
              <a:stCxn id="17" idx="3"/>
              <a:endCxn id="35" idx="1"/>
            </p:cNvCxnSpPr>
            <p:nvPr/>
          </p:nvCxnSpPr>
          <p:spPr bwMode="auto">
            <a:xfrm>
              <a:off x="3239852" y="4228244"/>
              <a:ext cx="540060" cy="113419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Arrow Connector 57">
              <a:extLst>
                <a:ext uri="{FF2B5EF4-FFF2-40B4-BE49-F238E27FC236}">
                  <a16:creationId xmlns:a16="http://schemas.microsoft.com/office/drawing/2014/main" id="{6F4265B7-649E-91A5-5F66-80BF06D7E5D9}"/>
                </a:ext>
              </a:extLst>
            </p:cNvPr>
            <p:cNvCxnSpPr>
              <a:cxnSpLocks noChangeShapeType="1"/>
              <a:stCxn id="17" idx="3"/>
              <a:endCxn id="39" idx="1"/>
            </p:cNvCxnSpPr>
            <p:nvPr/>
          </p:nvCxnSpPr>
          <p:spPr bwMode="auto">
            <a:xfrm>
              <a:off x="3239852" y="4228244"/>
              <a:ext cx="579466" cy="117486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Straight Arrow Connector 59">
              <a:extLst>
                <a:ext uri="{FF2B5EF4-FFF2-40B4-BE49-F238E27FC236}">
                  <a16:creationId xmlns:a16="http://schemas.microsoft.com/office/drawing/2014/main" id="{D367B031-45AE-5FAF-9007-54FAE8F82A63}"/>
                </a:ext>
              </a:extLst>
            </p:cNvPr>
            <p:cNvCxnSpPr>
              <a:cxnSpLocks noChangeShapeType="1"/>
              <a:stCxn id="20" idx="3"/>
              <a:endCxn id="27" idx="1"/>
            </p:cNvCxnSpPr>
            <p:nvPr/>
          </p:nvCxnSpPr>
          <p:spPr bwMode="auto">
            <a:xfrm flipV="1">
              <a:off x="3239852" y="1916832"/>
              <a:ext cx="544034" cy="343838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Arrow Connector 61">
              <a:extLst>
                <a:ext uri="{FF2B5EF4-FFF2-40B4-BE49-F238E27FC236}">
                  <a16:creationId xmlns:a16="http://schemas.microsoft.com/office/drawing/2014/main" id="{BD90E8D5-43F4-D7B8-F33F-1ABBC8EE7180}"/>
                </a:ext>
              </a:extLst>
            </p:cNvPr>
            <p:cNvCxnSpPr>
              <a:cxnSpLocks noChangeShapeType="1"/>
              <a:stCxn id="20" idx="3"/>
              <a:endCxn id="31" idx="1"/>
            </p:cNvCxnSpPr>
            <p:nvPr/>
          </p:nvCxnSpPr>
          <p:spPr bwMode="auto">
            <a:xfrm flipV="1">
              <a:off x="3239852" y="3043802"/>
              <a:ext cx="544034" cy="231141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Straight Arrow Connector 58367">
              <a:extLst>
                <a:ext uri="{FF2B5EF4-FFF2-40B4-BE49-F238E27FC236}">
                  <a16:creationId xmlns:a16="http://schemas.microsoft.com/office/drawing/2014/main" id="{32A12692-8655-DF25-C29F-55E6458F4223}"/>
                </a:ext>
              </a:extLst>
            </p:cNvPr>
            <p:cNvCxnSpPr>
              <a:cxnSpLocks noChangeShapeType="1"/>
              <a:stCxn id="20" idx="3"/>
              <a:endCxn id="35" idx="1"/>
            </p:cNvCxnSpPr>
            <p:nvPr/>
          </p:nvCxnSpPr>
          <p:spPr bwMode="auto">
            <a:xfrm flipV="1">
              <a:off x="3239852" y="4341663"/>
              <a:ext cx="540060" cy="101355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Straight Arrow Connector 58370">
              <a:extLst>
                <a:ext uri="{FF2B5EF4-FFF2-40B4-BE49-F238E27FC236}">
                  <a16:creationId xmlns:a16="http://schemas.microsoft.com/office/drawing/2014/main" id="{2C8E3587-70DF-2AF2-79AC-CB62F7F2BBFC}"/>
                </a:ext>
              </a:extLst>
            </p:cNvPr>
            <p:cNvCxnSpPr>
              <a:cxnSpLocks noChangeShapeType="1"/>
              <a:stCxn id="20" idx="3"/>
              <a:endCxn id="39" idx="1"/>
            </p:cNvCxnSpPr>
            <p:nvPr/>
          </p:nvCxnSpPr>
          <p:spPr bwMode="auto">
            <a:xfrm>
              <a:off x="3239852" y="5355214"/>
              <a:ext cx="579466" cy="4789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Rectangle 67">
              <a:extLst>
                <a:ext uri="{FF2B5EF4-FFF2-40B4-BE49-F238E27FC236}">
                  <a16:creationId xmlns:a16="http://schemas.microsoft.com/office/drawing/2014/main" id="{53F03FE4-0E4C-201A-DB84-7D097D26C08F}"/>
                </a:ext>
              </a:extLst>
            </p:cNvPr>
            <p:cNvSpPr/>
            <p:nvPr/>
          </p:nvSpPr>
          <p:spPr bwMode="auto">
            <a:xfrm>
              <a:off x="4806946" y="1502786"/>
              <a:ext cx="663054" cy="7018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24x24</a:t>
              </a:r>
            </a:p>
          </p:txBody>
        </p:sp>
        <p:sp>
          <p:nvSpPr>
            <p:cNvPr id="57" name="Rectangle 68">
              <a:extLst>
                <a:ext uri="{FF2B5EF4-FFF2-40B4-BE49-F238E27FC236}">
                  <a16:creationId xmlns:a16="http://schemas.microsoft.com/office/drawing/2014/main" id="{07294373-17FB-C9AE-4273-748121277B7C}"/>
                </a:ext>
              </a:extLst>
            </p:cNvPr>
            <p:cNvSpPr/>
            <p:nvPr/>
          </p:nvSpPr>
          <p:spPr bwMode="auto">
            <a:xfrm>
              <a:off x="4806946" y="2668678"/>
              <a:ext cx="663054" cy="7018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24x24</a:t>
              </a:r>
            </a:p>
          </p:txBody>
        </p:sp>
        <p:sp>
          <p:nvSpPr>
            <p:cNvPr id="58" name="Rectangle 69">
              <a:extLst>
                <a:ext uri="{FF2B5EF4-FFF2-40B4-BE49-F238E27FC236}">
                  <a16:creationId xmlns:a16="http://schemas.microsoft.com/office/drawing/2014/main" id="{2A3764F1-86FD-9C21-3B94-2D8697C36EF3}"/>
                </a:ext>
              </a:extLst>
            </p:cNvPr>
            <p:cNvSpPr/>
            <p:nvPr/>
          </p:nvSpPr>
          <p:spPr bwMode="auto">
            <a:xfrm>
              <a:off x="4806946" y="3871510"/>
              <a:ext cx="663054" cy="7018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24x24</a:t>
              </a:r>
            </a:p>
          </p:txBody>
        </p:sp>
        <p:sp>
          <p:nvSpPr>
            <p:cNvPr id="59" name="Rectangle 70">
              <a:extLst>
                <a:ext uri="{FF2B5EF4-FFF2-40B4-BE49-F238E27FC236}">
                  <a16:creationId xmlns:a16="http://schemas.microsoft.com/office/drawing/2014/main" id="{AC6ECC78-1493-67DF-B1AA-C65DBAC6F1FD}"/>
                </a:ext>
              </a:extLst>
            </p:cNvPr>
            <p:cNvSpPr/>
            <p:nvPr/>
          </p:nvSpPr>
          <p:spPr bwMode="auto">
            <a:xfrm>
              <a:off x="4806946" y="5005080"/>
              <a:ext cx="663054" cy="70184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24x24</a:t>
              </a:r>
            </a:p>
          </p:txBody>
        </p:sp>
        <p:cxnSp>
          <p:nvCxnSpPr>
            <p:cNvPr id="60" name="Straight Arrow Connector 58372">
              <a:extLst>
                <a:ext uri="{FF2B5EF4-FFF2-40B4-BE49-F238E27FC236}">
                  <a16:creationId xmlns:a16="http://schemas.microsoft.com/office/drawing/2014/main" id="{37DF8CB7-A421-4276-7F8D-B70CCA0E8E65}"/>
                </a:ext>
              </a:extLst>
            </p:cNvPr>
            <p:cNvCxnSpPr>
              <a:cxnSpLocks/>
              <a:stCxn id="27" idx="3"/>
              <a:endCxn id="56" idx="1"/>
            </p:cNvCxnSpPr>
            <p:nvPr/>
          </p:nvCxnSpPr>
          <p:spPr bwMode="auto">
            <a:xfrm flipV="1">
              <a:off x="4287942" y="1853825"/>
              <a:ext cx="520074" cy="63007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Arrow Connector 58375">
              <a:extLst>
                <a:ext uri="{FF2B5EF4-FFF2-40B4-BE49-F238E27FC236}">
                  <a16:creationId xmlns:a16="http://schemas.microsoft.com/office/drawing/2014/main" id="{B376E8A3-0098-AC74-D85F-1BFE25EC16A3}"/>
                </a:ext>
              </a:extLst>
            </p:cNvPr>
            <p:cNvCxnSpPr>
              <a:cxnSpLocks noChangeShapeType="1"/>
              <a:stCxn id="31" idx="3"/>
              <a:endCxn id="57" idx="1"/>
            </p:cNvCxnSpPr>
            <p:nvPr/>
          </p:nvCxnSpPr>
          <p:spPr bwMode="auto">
            <a:xfrm flipV="1">
              <a:off x="4287942" y="3018790"/>
              <a:ext cx="520074" cy="2501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Straight Arrow Connector 58377">
              <a:extLst>
                <a:ext uri="{FF2B5EF4-FFF2-40B4-BE49-F238E27FC236}">
                  <a16:creationId xmlns:a16="http://schemas.microsoft.com/office/drawing/2014/main" id="{FE9CB0CC-7FFA-4A55-8DAE-5C2455B80DAC}"/>
                </a:ext>
              </a:extLst>
            </p:cNvPr>
            <p:cNvCxnSpPr>
              <a:cxnSpLocks noChangeShapeType="1"/>
              <a:stCxn id="35" idx="3"/>
              <a:endCxn id="58" idx="1"/>
            </p:cNvCxnSpPr>
            <p:nvPr/>
          </p:nvCxnSpPr>
          <p:spPr bwMode="auto">
            <a:xfrm flipV="1">
              <a:off x="4283968" y="4223454"/>
              <a:ext cx="524048" cy="118209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Straight Arrow Connector 58379">
              <a:extLst>
                <a:ext uri="{FF2B5EF4-FFF2-40B4-BE49-F238E27FC236}">
                  <a16:creationId xmlns:a16="http://schemas.microsoft.com/office/drawing/2014/main" id="{892CAC1E-D7BC-7EE6-55A0-6E5DFE61B6F1}"/>
                </a:ext>
              </a:extLst>
            </p:cNvPr>
            <p:cNvCxnSpPr>
              <a:cxnSpLocks noChangeShapeType="1"/>
              <a:stCxn id="39" idx="3"/>
              <a:endCxn id="59" idx="1"/>
            </p:cNvCxnSpPr>
            <p:nvPr/>
          </p:nvCxnSpPr>
          <p:spPr bwMode="auto">
            <a:xfrm flipV="1">
              <a:off x="4323374" y="5355214"/>
              <a:ext cx="484642" cy="4789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BD65657-3F0E-54E2-8EBE-E10125DB573C}"/>
                </a:ext>
              </a:extLst>
            </p:cNvPr>
            <p:cNvSpPr/>
            <p:nvPr/>
          </p:nvSpPr>
          <p:spPr bwMode="auto">
            <a:xfrm>
              <a:off x="5939049" y="1590517"/>
              <a:ext cx="469050" cy="5125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12x12</a:t>
              </a:r>
            </a:p>
          </p:txBody>
        </p:sp>
        <p:cxnSp>
          <p:nvCxnSpPr>
            <p:cNvPr id="65" name="Straight Arrow Connector 12">
              <a:extLst>
                <a:ext uri="{FF2B5EF4-FFF2-40B4-BE49-F238E27FC236}">
                  <a16:creationId xmlns:a16="http://schemas.microsoft.com/office/drawing/2014/main" id="{D5C92CD7-BCF0-38BE-1A1B-E66F90F29CC6}"/>
                </a:ext>
              </a:extLst>
            </p:cNvPr>
            <p:cNvCxnSpPr>
              <a:cxnSpLocks noChangeShapeType="1"/>
              <a:stCxn id="56" idx="3"/>
              <a:endCxn id="64" idx="1"/>
            </p:cNvCxnSpPr>
            <p:nvPr/>
          </p:nvCxnSpPr>
          <p:spPr bwMode="auto">
            <a:xfrm flipV="1">
              <a:off x="5470773" y="1846663"/>
              <a:ext cx="469379" cy="716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23F97C-701B-CDA9-8346-DA57BA995062}"/>
                </a:ext>
              </a:extLst>
            </p:cNvPr>
            <p:cNvSpPr/>
            <p:nvPr/>
          </p:nvSpPr>
          <p:spPr bwMode="auto">
            <a:xfrm>
              <a:off x="5939049" y="2761026"/>
              <a:ext cx="469050" cy="5125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12x12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FF8344E-938C-2F72-BFC6-1F54F8B7C530}"/>
                </a:ext>
              </a:extLst>
            </p:cNvPr>
            <p:cNvSpPr/>
            <p:nvPr/>
          </p:nvSpPr>
          <p:spPr bwMode="auto">
            <a:xfrm>
              <a:off x="5939049" y="3966166"/>
              <a:ext cx="469050" cy="5148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12x12</a:t>
              </a:r>
            </a:p>
          </p:txBody>
        </p:sp>
        <p:sp>
          <p:nvSpPr>
            <p:cNvPr id="68" name="Rectangle 71">
              <a:extLst>
                <a:ext uri="{FF2B5EF4-FFF2-40B4-BE49-F238E27FC236}">
                  <a16:creationId xmlns:a16="http://schemas.microsoft.com/office/drawing/2014/main" id="{2B2D9DAA-3AD2-F7C4-4FBB-EB06159F602F}"/>
                </a:ext>
              </a:extLst>
            </p:cNvPr>
            <p:cNvSpPr/>
            <p:nvPr/>
          </p:nvSpPr>
          <p:spPr bwMode="auto">
            <a:xfrm>
              <a:off x="5939049" y="5085885"/>
              <a:ext cx="469050" cy="51483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12x12</a:t>
              </a:r>
            </a:p>
          </p:txBody>
        </p:sp>
        <p:cxnSp>
          <p:nvCxnSpPr>
            <p:cNvPr id="69" name="Straight Arrow Connector 40">
              <a:extLst>
                <a:ext uri="{FF2B5EF4-FFF2-40B4-BE49-F238E27FC236}">
                  <a16:creationId xmlns:a16="http://schemas.microsoft.com/office/drawing/2014/main" id="{3EDA453A-21A0-C490-6026-C6AC79489682}"/>
                </a:ext>
              </a:extLst>
            </p:cNvPr>
            <p:cNvCxnSpPr>
              <a:cxnSpLocks noChangeShapeType="1"/>
              <a:stCxn id="57" idx="3"/>
              <a:endCxn id="66" idx="1"/>
            </p:cNvCxnSpPr>
            <p:nvPr/>
          </p:nvCxnSpPr>
          <p:spPr bwMode="auto">
            <a:xfrm flipV="1">
              <a:off x="5470773" y="3017207"/>
              <a:ext cx="469379" cy="1583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Straight Arrow Connector 44">
              <a:extLst>
                <a:ext uri="{FF2B5EF4-FFF2-40B4-BE49-F238E27FC236}">
                  <a16:creationId xmlns:a16="http://schemas.microsoft.com/office/drawing/2014/main" id="{E434D8EF-F807-D48C-C776-E6BCA390D767}"/>
                </a:ext>
              </a:extLst>
            </p:cNvPr>
            <p:cNvCxnSpPr>
              <a:cxnSpLocks noChangeShapeType="1"/>
              <a:stCxn id="58" idx="3"/>
              <a:endCxn id="67" idx="1"/>
            </p:cNvCxnSpPr>
            <p:nvPr/>
          </p:nvCxnSpPr>
          <p:spPr bwMode="auto">
            <a:xfrm>
              <a:off x="5470773" y="4223454"/>
              <a:ext cx="469379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Straight Arrow Connector 48">
              <a:extLst>
                <a:ext uri="{FF2B5EF4-FFF2-40B4-BE49-F238E27FC236}">
                  <a16:creationId xmlns:a16="http://schemas.microsoft.com/office/drawing/2014/main" id="{4F5C5AE7-613B-4879-FCB6-3B86E1F89F11}"/>
                </a:ext>
              </a:extLst>
            </p:cNvPr>
            <p:cNvCxnSpPr>
              <a:cxnSpLocks noChangeShapeType="1"/>
              <a:stCxn id="59" idx="3"/>
              <a:endCxn id="68" idx="1"/>
            </p:cNvCxnSpPr>
            <p:nvPr/>
          </p:nvCxnSpPr>
          <p:spPr bwMode="auto">
            <a:xfrm flipV="1">
              <a:off x="5470773" y="5343153"/>
              <a:ext cx="469379" cy="1206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D44204FA-43B8-9AFF-5BB2-3CB88A60B986}"/>
                </a:ext>
              </a:extLst>
            </p:cNvPr>
            <p:cNvSpPr/>
            <p:nvPr/>
          </p:nvSpPr>
          <p:spPr bwMode="auto">
            <a:xfrm>
              <a:off x="6732240" y="1846663"/>
              <a:ext cx="306697" cy="359887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4 * 12 * 12 = 576 nodes...</a:t>
              </a:r>
            </a:p>
          </p:txBody>
        </p:sp>
        <p:cxnSp>
          <p:nvCxnSpPr>
            <p:cNvPr id="73" name="Straight Arrow Connector 56">
              <a:extLst>
                <a:ext uri="{FF2B5EF4-FFF2-40B4-BE49-F238E27FC236}">
                  <a16:creationId xmlns:a16="http://schemas.microsoft.com/office/drawing/2014/main" id="{21C09B2C-43E5-547A-2214-30E808336AC5}"/>
                </a:ext>
              </a:extLst>
            </p:cNvPr>
            <p:cNvCxnSpPr>
              <a:cxnSpLocks noChangeShapeType="1"/>
              <a:stCxn id="64" idx="3"/>
              <a:endCxn id="72" idx="1"/>
            </p:cNvCxnSpPr>
            <p:nvPr/>
          </p:nvCxnSpPr>
          <p:spPr bwMode="auto">
            <a:xfrm>
              <a:off x="6408776" y="1846663"/>
              <a:ext cx="323464" cy="1799439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Straight Arrow Connector 60">
              <a:extLst>
                <a:ext uri="{FF2B5EF4-FFF2-40B4-BE49-F238E27FC236}">
                  <a16:creationId xmlns:a16="http://schemas.microsoft.com/office/drawing/2014/main" id="{B97D64F2-94A1-4FDA-B867-A3F8BFC6BC94}"/>
                </a:ext>
              </a:extLst>
            </p:cNvPr>
            <p:cNvCxnSpPr>
              <a:cxnSpLocks noChangeShapeType="1"/>
              <a:stCxn id="66" idx="3"/>
              <a:endCxn id="72" idx="1"/>
            </p:cNvCxnSpPr>
            <p:nvPr/>
          </p:nvCxnSpPr>
          <p:spPr bwMode="auto">
            <a:xfrm>
              <a:off x="6408776" y="3017207"/>
              <a:ext cx="323464" cy="628895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Straight Arrow Connector 72">
              <a:extLst>
                <a:ext uri="{FF2B5EF4-FFF2-40B4-BE49-F238E27FC236}">
                  <a16:creationId xmlns:a16="http://schemas.microsoft.com/office/drawing/2014/main" id="{51B55F38-D5DF-631C-3C1C-0BF63AA54504}"/>
                </a:ext>
              </a:extLst>
            </p:cNvPr>
            <p:cNvCxnSpPr>
              <a:cxnSpLocks noChangeShapeType="1"/>
              <a:stCxn id="67" idx="3"/>
              <a:endCxn id="72" idx="1"/>
            </p:cNvCxnSpPr>
            <p:nvPr/>
          </p:nvCxnSpPr>
          <p:spPr bwMode="auto">
            <a:xfrm flipV="1">
              <a:off x="6408776" y="3646102"/>
              <a:ext cx="323464" cy="577352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Straight Arrow Connector 74">
              <a:extLst>
                <a:ext uri="{FF2B5EF4-FFF2-40B4-BE49-F238E27FC236}">
                  <a16:creationId xmlns:a16="http://schemas.microsoft.com/office/drawing/2014/main" id="{048657FF-43BA-1407-3031-49E54F47B34A}"/>
                </a:ext>
              </a:extLst>
            </p:cNvPr>
            <p:cNvCxnSpPr>
              <a:cxnSpLocks noChangeShapeType="1"/>
              <a:stCxn id="68" idx="3"/>
              <a:endCxn id="72" idx="1"/>
            </p:cNvCxnSpPr>
            <p:nvPr/>
          </p:nvCxnSpPr>
          <p:spPr bwMode="auto">
            <a:xfrm flipV="1">
              <a:off x="6408776" y="3646102"/>
              <a:ext cx="323464" cy="169705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Rectangle 87">
              <a:extLst>
                <a:ext uri="{FF2B5EF4-FFF2-40B4-BE49-F238E27FC236}">
                  <a16:creationId xmlns:a16="http://schemas.microsoft.com/office/drawing/2014/main" id="{A3188D89-C3CE-3A61-A093-E3D540A37C23}"/>
                </a:ext>
              </a:extLst>
            </p:cNvPr>
            <p:cNvSpPr/>
            <p:nvPr/>
          </p:nvSpPr>
          <p:spPr bwMode="auto">
            <a:xfrm>
              <a:off x="7480318" y="2552920"/>
              <a:ext cx="306697" cy="218636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50 nodes</a:t>
              </a:r>
            </a:p>
          </p:txBody>
        </p:sp>
        <p:sp>
          <p:nvSpPr>
            <p:cNvPr id="78" name="Rectangle 88">
              <a:extLst>
                <a:ext uri="{FF2B5EF4-FFF2-40B4-BE49-F238E27FC236}">
                  <a16:creationId xmlns:a16="http://schemas.microsoft.com/office/drawing/2014/main" id="{21128901-9BD0-1E6E-B8A4-C2F09C6F261C}"/>
                </a:ext>
              </a:extLst>
            </p:cNvPr>
            <p:cNvSpPr/>
            <p:nvPr/>
          </p:nvSpPr>
          <p:spPr bwMode="auto">
            <a:xfrm>
              <a:off x="8186337" y="3063657"/>
              <a:ext cx="306697" cy="116488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none" anchor="ctr"/>
            <a:lstStyle/>
            <a:p>
              <a:pPr algn="ctr" eaLnBrk="1" hangingPunct="1">
                <a:defRPr/>
              </a:pPr>
              <a:r>
                <a:rPr lang="en-US" sz="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10 nodes</a:t>
              </a:r>
            </a:p>
          </p:txBody>
        </p:sp>
        <p:cxnSp>
          <p:nvCxnSpPr>
            <p:cNvPr id="79" name="Straight Arrow Connector 79">
              <a:extLst>
                <a:ext uri="{FF2B5EF4-FFF2-40B4-BE49-F238E27FC236}">
                  <a16:creationId xmlns:a16="http://schemas.microsoft.com/office/drawing/2014/main" id="{061DDC30-F303-5E71-5422-7FECED0C12D5}"/>
                </a:ext>
              </a:extLst>
            </p:cNvPr>
            <p:cNvCxnSpPr>
              <a:cxnSpLocks noChangeShapeType="1"/>
              <a:stCxn id="72" idx="3"/>
              <a:endCxn id="77" idx="1"/>
            </p:cNvCxnSpPr>
            <p:nvPr/>
          </p:nvCxnSpPr>
          <p:spPr bwMode="auto">
            <a:xfrm>
              <a:off x="7038937" y="3646102"/>
              <a:ext cx="441381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Straight Arrow Connector 84">
              <a:extLst>
                <a:ext uri="{FF2B5EF4-FFF2-40B4-BE49-F238E27FC236}">
                  <a16:creationId xmlns:a16="http://schemas.microsoft.com/office/drawing/2014/main" id="{8A4D68CC-EA7A-386A-825D-D74F1CA57684}"/>
                </a:ext>
              </a:extLst>
            </p:cNvPr>
            <p:cNvCxnSpPr>
              <a:cxnSpLocks noChangeShapeType="1"/>
              <a:stCxn id="77" idx="3"/>
              <a:endCxn id="78" idx="1"/>
            </p:cNvCxnSpPr>
            <p:nvPr/>
          </p:nvCxnSpPr>
          <p:spPr bwMode="auto">
            <a:xfrm flipV="1">
              <a:off x="7787015" y="3646101"/>
              <a:ext cx="399322" cy="1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7822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C26B5BD-A894-2ADC-734E-CD158DC88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Different layers in a convolution neural network ”see” different types of patterns in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2872137-10E1-D982-897F-8CAD2B09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recognition (2)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49A7EA26-A938-335E-7616-BEBE2B41F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82" y="2963209"/>
            <a:ext cx="2041639" cy="136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176E84AD-96B8-5A02-9942-99792D51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8" y="2955987"/>
            <a:ext cx="1780737" cy="136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84EB1E5-9D81-D1DB-466D-20E65CCE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860" y="2970431"/>
            <a:ext cx="2030617" cy="1350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rrow: Down 5">
            <a:extLst>
              <a:ext uri="{FF2B5EF4-FFF2-40B4-BE49-F238E27FC236}">
                <a16:creationId xmlns:a16="http://schemas.microsoft.com/office/drawing/2014/main" id="{61858639-52DB-D164-5FD5-DEE4129CA25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86003" y="3418432"/>
            <a:ext cx="628867" cy="45455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ED0010"/>
              </a:buClr>
              <a:buSzPct val="60000"/>
              <a:buFont typeface="Zapf Dingbats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6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2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9" name="Arrow: Down 5">
            <a:extLst>
              <a:ext uri="{FF2B5EF4-FFF2-40B4-BE49-F238E27FC236}">
                <a16:creationId xmlns:a16="http://schemas.microsoft.com/office/drawing/2014/main" id="{E1905E1F-C91C-ECA9-C374-1C55B35036D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326911" y="3411210"/>
            <a:ext cx="628867" cy="45455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5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ED0010"/>
              </a:buClr>
              <a:buSzPct val="60000"/>
              <a:buFont typeface="Zapf Dingbats"/>
              <a:buChar char="n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6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2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Zapf Dingbats"/>
              <a:buChar char="n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4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741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2817D6DA-DC23-7920-53D1-8308846F6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886" y="1757864"/>
            <a:ext cx="4836967" cy="4259262"/>
          </a:xfrm>
          <a:prstGeom prst="rect">
            <a:avLst/>
          </a:prstGeom>
        </p:spPr>
      </p:pic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43A9AE2-9530-51A7-3C13-2ED5AEC633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925638"/>
            <a:ext cx="3044992" cy="42592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Image recognition is now a solved problem.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Human performance is about 5%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B30AE1D-1E7C-6BFF-660F-3AF8C05F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recognition (3)</a:t>
            </a:r>
          </a:p>
        </p:txBody>
      </p:sp>
    </p:spTree>
    <p:extLst>
      <p:ext uri="{BB962C8B-B14F-4D97-AF65-F5344CB8AC3E}">
        <p14:creationId xmlns:p14="http://schemas.microsoft.com/office/powerpoint/2010/main" val="1213807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6276FDE-311B-13B3-C1E6-DF01D9847F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Recall the slide “connections between inputs as vectors”.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During training weights are calculated for the connections between words or parts of words (“tokens”).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An LLM (Large Language Model) has billions of connections and therefore billions of parameters.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Training data is the entire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When you use an LLM, the model examines the text you wrote and calculates which words / tokens are most likely to be a correct response to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This is an oversimplification.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However, an LLM is still nothing more than a tool to find patterns.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78E0100-29B3-5FB3-CCCA-49446F04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about language models (ChatGPT, Claude, </a:t>
            </a:r>
            <a:r>
              <a:rPr lang="en-US" noProof="0" dirty="0" err="1"/>
              <a:t>Etc</a:t>
            </a:r>
            <a:r>
              <a:rPr lang="en-US" noProof="0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1854089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4F288020-F7B0-7FED-0ADD-85D9C971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71" y="4563785"/>
            <a:ext cx="6938010" cy="1741199"/>
          </a:xfrm>
          <a:prstGeom prst="rect">
            <a:avLst/>
          </a:prstGeom>
        </p:spPr>
      </p:pic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51EA781-843A-308F-E0D2-E704E8A86B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2025: Transformer based LLMs have stopped improving.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directions:</a:t>
            </a:r>
          </a:p>
          <a:p>
            <a:pPr marL="728653" lvl="1" indent="-342900"/>
            <a:r>
              <a:rPr lang="en-US" dirty="0"/>
              <a:t>Improving efficiency (</a:t>
            </a:r>
            <a:r>
              <a:rPr lang="en-US" dirty="0" err="1"/>
              <a:t>eg.</a:t>
            </a:r>
            <a:r>
              <a:rPr lang="en-US" dirty="0"/>
              <a:t> DeepSeek)</a:t>
            </a:r>
          </a:p>
          <a:p>
            <a:pPr marL="985821" lvl="2" indent="-342900"/>
            <a:r>
              <a:rPr lang="en-US" dirty="0"/>
              <a:t>Allocate different amounts of computing power to different parts of the data.</a:t>
            </a:r>
          </a:p>
          <a:p>
            <a:pPr marL="985821" lvl="2" indent="-342900"/>
            <a:r>
              <a:rPr lang="en-US" dirty="0"/>
              <a:t>Use previously trained but computationally expensive models as input for training.</a:t>
            </a:r>
          </a:p>
          <a:p>
            <a:pPr marL="985821" lvl="2" indent="-342900"/>
            <a:r>
              <a:rPr lang="en-US" dirty="0"/>
              <a:t>Apply good old fashioned code optimization.</a:t>
            </a:r>
          </a:p>
          <a:p>
            <a:pPr marL="728653" lvl="1" indent="-342900"/>
            <a:r>
              <a:rPr lang="en-US" dirty="0"/>
              <a:t>Modeling different aspects of the brain (</a:t>
            </a:r>
            <a:r>
              <a:rPr lang="en-US" dirty="0" err="1"/>
              <a:t>eg.</a:t>
            </a:r>
            <a:r>
              <a:rPr lang="en-US" dirty="0"/>
              <a:t> Hierarchical Reasoning)</a:t>
            </a:r>
          </a:p>
          <a:p>
            <a:pPr marL="985821" lvl="2" indent="-342900"/>
            <a:r>
              <a:rPr lang="en-US" dirty="0"/>
              <a:t>Use two different networks running at different speeds. The slow network supplies the fast network with chunks of training data and processes the results.</a:t>
            </a:r>
          </a:p>
          <a:p>
            <a:pPr marL="728653" lvl="1" indent="-342900"/>
            <a:r>
              <a:rPr lang="en-US" dirty="0"/>
              <a:t>Using more complicated math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 err="1">
                <a:sym typeface="Wingdings" pitchFamily="2" charset="2"/>
              </a:rPr>
              <a:t>eg.</a:t>
            </a:r>
            <a:r>
              <a:rPr lang="en-US" dirty="0">
                <a:sym typeface="Wingdings" pitchFamily="2" charset="2"/>
              </a:rPr>
              <a:t> Diffusion Models)</a:t>
            </a:r>
          </a:p>
          <a:p>
            <a:pPr marL="985821" lvl="2" indent="-342900"/>
            <a:r>
              <a:rPr lang="en-US" dirty="0">
                <a:sym typeface="Wingdings" pitchFamily="2" charset="2"/>
              </a:rPr>
              <a:t>Add noise to an image and then train a model to remove that noise.</a:t>
            </a:r>
          </a:p>
          <a:p>
            <a:pPr marL="985821" lvl="2" indent="-342900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091A77-43DA-D308-EE74-090477BC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developments</a:t>
            </a:r>
          </a:p>
        </p:txBody>
      </p:sp>
    </p:spTree>
    <p:extLst>
      <p:ext uri="{BB962C8B-B14F-4D97-AF65-F5344CB8AC3E}">
        <p14:creationId xmlns:p14="http://schemas.microsoft.com/office/powerpoint/2010/main" val="2498885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EDAC311-43D8-9A58-0B70-4C2E002171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AI is the name we give to automated pattern finding.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B7586D1-9CAF-43CC-961C-98852A20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817377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2" id="{671DDF35-ECA7-4E3D-A33C-C8E03735DADE}" vid="{F5E29221-10C5-49DB-87C4-0557C1D5A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C6846675690041B0AEF76721A33550" ma:contentTypeVersion="12" ma:contentTypeDescription="Een nieuw document maken." ma:contentTypeScope="" ma:versionID="7d80b5b27cb88b7e670b1fbb7cd7de23">
  <xsd:schema xmlns:xsd="http://www.w3.org/2001/XMLSchema" xmlns:xs="http://www.w3.org/2001/XMLSchema" xmlns:p="http://schemas.microsoft.com/office/2006/metadata/properties" xmlns:ns2="6b01692f-8f45-4310-abfd-accd438f234f" xmlns:ns3="41d33a03-4c74-4b4d-8466-39dbc86d9cdb" targetNamespace="http://schemas.microsoft.com/office/2006/metadata/properties" ma:root="true" ma:fieldsID="2679454ac823c4dc22358f51a5683c7b" ns2:_="" ns3:_="">
    <xsd:import namespace="6b01692f-8f45-4310-abfd-accd438f234f"/>
    <xsd:import namespace="41d33a03-4c74-4b4d-8466-39dbc86d9c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692f-8f45-4310-abfd-accd438f2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33a03-4c74-4b4d-8466-39dbc86d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5827D5-5A12-48FB-BA20-1E7CB9BA5BA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67c6fd78-9e9e-49b0-99f6-392b7eb0c25b"/>
    <ds:schemaRef ds:uri="http://purl.org/dc/terms/"/>
    <ds:schemaRef ds:uri="http://schemas.microsoft.com/office/infopath/2007/PartnerControls"/>
    <ds:schemaRef ds:uri="53aadeef-871c-4d8b-955c-28f1a159024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E540D17-DFE7-4DA1-AB7C-9204237EF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A48691-3E40-4B9C-9CEF-B13064CE8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01692f-8f45-4310-abfd-accd438f234f"/>
    <ds:schemaRef ds:uri="41d33a03-4c74-4b4d-8466-39dbc86d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4848</TotalTime>
  <Words>1208</Words>
  <Application>Microsoft Macintosh PowerPoint</Application>
  <PresentationFormat>Diavoorstelling (4:3)</PresentationFormat>
  <Paragraphs>174</Paragraphs>
  <Slides>20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6" baseType="lpstr">
      <vt:lpstr>Arial</vt:lpstr>
      <vt:lpstr>Avenir Next Condensed</vt:lpstr>
      <vt:lpstr>Calibri</vt:lpstr>
      <vt:lpstr>Cambria Math</vt:lpstr>
      <vt:lpstr>Wingdings</vt:lpstr>
      <vt:lpstr>Presentatie_Smal</vt:lpstr>
      <vt:lpstr>PowerPoint-presentatie</vt:lpstr>
      <vt:lpstr>Contents</vt:lpstr>
      <vt:lpstr>What is intelligence?</vt:lpstr>
      <vt:lpstr>What is AI?</vt:lpstr>
      <vt:lpstr>What is AI? No, but really</vt:lpstr>
      <vt:lpstr>The history of computers: TL;DR version</vt:lpstr>
      <vt:lpstr>The history of pattern recognition in computing</vt:lpstr>
      <vt:lpstr>Connections between inputs as vectors</vt:lpstr>
      <vt:lpstr>Other types of patterns</vt:lpstr>
      <vt:lpstr>Linear models</vt:lpstr>
      <vt:lpstr>Non-linear models</vt:lpstr>
      <vt:lpstr>Deep learning: neural networks (1)</vt:lpstr>
      <vt:lpstr>Deep learning: neural networks (2)</vt:lpstr>
      <vt:lpstr>What makes deep learning “learning”?</vt:lpstr>
      <vt:lpstr>Image recognition (1)</vt:lpstr>
      <vt:lpstr>Image recognition (2)</vt:lpstr>
      <vt:lpstr>Image recognition (3)</vt:lpstr>
      <vt:lpstr>What about language models (ChatGPT, Claude, Etc)?</vt:lpstr>
      <vt:lpstr>Recent developments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Matthijs de Jonge</cp:lastModifiedBy>
  <cp:revision>267</cp:revision>
  <dcterms:created xsi:type="dcterms:W3CDTF">2015-07-08T04:47:01Z</dcterms:created>
  <dcterms:modified xsi:type="dcterms:W3CDTF">2025-09-30T12:01:23Z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0x010100B2C6846675690041B0AEF76721A33550</vt:lpwstr>
  </property>
</Properties>
</file>